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601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MODEL CONTEXT PROTOCOL</a:t>
            </a:r>
          </a:p>
          <a:p>
            <a:pPr>
              <a:spcAft>
                <a:spcPts val="1400"/>
              </a:spcAft>
              <a:defRPr sz="5400" b="1">
                <a:solidFill>
                  <a:srgbClr val="F3F4F6"/>
                </a:solidFill>
                <a:latin typeface="Segoe UI"/>
              </a:defRPr>
            </a:pPr>
            <a:r>
              <a:t>Azure MCP Server</a:t>
            </a:r>
          </a:p>
          <a:p>
            <a:pPr>
              <a:defRPr sz="1800">
                <a:solidFill>
                  <a:srgbClr val="9CA3AF"/>
                </a:solidFill>
                <a:latin typeface="Segoe UI"/>
              </a:defRPr>
            </a:pPr>
            <a:r>
              <a:t>Empowering LLMs with direct Azure Resource Manager APIs and local Azure CLI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PROJECT TYPE:  </a:t>
            </a:r>
            <a:r>
              <a:rPr b="0">
                <a:solidFill>
                  <a:srgbClr val="9CA3AF"/>
                </a:solidFill>
              </a:rPr>
              <a:t>Azure MCP Server (Node/Python)   |   </a:t>
            </a:r>
            <a:r>
              <a:rPr b="1">
                <a:solidFill>
                  <a:srgbClr val="F3F4F6"/>
                </a:solidFill>
              </a:rPr>
              <a:t>INTEGRATIONS:  </a:t>
            </a:r>
            <a:r>
              <a:rPr b="0">
                <a:solidFill>
                  <a:srgbClr val="9CA3AF"/>
                </a:solidFill>
              </a:rPr>
              <a:t>Azure ARM REST API &amp; Azure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The Cloud Administration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Traditional AI assistants operate in a sandbox, isolated from your active infrastructure. Managing cloud resources directly from conversations presents several challenges: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🔐 Authentication Barriers</a:t>
            </a:r>
          </a:p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Segoe UI"/>
              </a:defRPr>
            </a:pPr>
            <a:r>
              <a:t>AI models lack secure, real-time access to authenticate against enterprise cloud providers and local terminal sessions without sharing static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205740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📊 Schema &amp; Context Bloat</a:t>
            </a:r>
          </a:p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Segoe UI"/>
              </a:defRPr>
            </a:pPr>
            <a:r>
              <a:t>Azure includes hundreds of services and thousands of endpoints. Standard LLMs cannot store all API specs in their prompt context without significant performance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205740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⚡ Static Knowledge</a:t>
            </a:r>
          </a:p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Segoe UI"/>
              </a:defRPr>
            </a:pPr>
            <a:r>
              <a:t>LLM knowledge cuts off and cannot see real-time environment configurations, diagnostic status, active error logs, or resource performance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Introducing Azure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The Model Context Protocol (MCP) for Azure acts as a standardized local bridge, enabling LLM clients to safely orchestrate cloud actions.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Contextual Awareness: </a:t>
            </a:r>
            <a:r>
              <a:rPr b="0">
                <a:solidFill>
                  <a:srgbClr val="9CA3AF"/>
                </a:solidFill>
              </a:rPr>
              <a:t>Translates user requests directly into precise Azure API schemas on demand.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Credential-Free Security: </a:t>
            </a:r>
            <a:r>
              <a:rPr b="0">
                <a:solidFill>
                  <a:srgbClr val="9CA3AF"/>
                </a:solidFill>
              </a:rPr>
              <a:t>Operates entirely on the developer's machine, inheriting local authorization tokens.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Bi-directional Actions: </a:t>
            </a:r>
            <a:r>
              <a:rPr b="0">
                <a:solidFill>
                  <a:srgbClr val="9CA3AF"/>
                </a:solidFill>
              </a:rPr>
              <a:t>Performs both read-only audits and resource mutations securely.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3F4F6"/>
                </a:solidFill>
                <a:latin typeface="Segoe UI"/>
              </a:defRPr>
            </a:pPr>
            <a:r>
              <a:t>⚙️ Dual-Engine Core</a:t>
            </a: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1. Direct ARM SDK/API Engine</a:t>
            </a:r>
          </a:p>
          <a:p>
            <a:pPr>
              <a:spcAft>
                <a:spcPts val="20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Connects directly to Azure Resource Manager endpoints. Optimized for structured JSON operations, filtering, and performance-critical operations.</a:t>
            </a: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2. Local Azure CLI Wrapper</a:t>
            </a:r>
          </a:p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Falls back or executes through the local 'az cli' process. Excellent for running complex commands, scripts, or checking details directly in the local shell.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8229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F4F6"/>
                </a:solidFill>
                <a:latin typeface="Segoe UI"/>
              </a:defRPr>
            </a:pPr>
            <a:r>
              <a:t>LLM Client / Editor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Cursor / Claude Desktop /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029200" cy="8229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F4F6"/>
                </a:solidFill>
                <a:latin typeface="Segoe UI"/>
              </a:defRPr>
            </a:pPr>
            <a:r>
              <a:t>Azure MCP Server (Local Process)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Handles auth, tool mapping, runs API/CLI wrapper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5029200" cy="8229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F4F6"/>
                </a:solidFill>
                <a:latin typeface="Segoe UI"/>
              </a:defRPr>
            </a:pPr>
            <a:r>
              <a:t>Azure Cloud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VMs / App Services / SQL / Databases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2240280"/>
            <a:ext cx="45720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291840"/>
            <a:ext cx="1828800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F4F6"/>
                </a:solidFill>
                <a:latin typeface="Segoe UI"/>
              </a:defRPr>
            </a:pPr>
            <a:r>
              <a:t>Azure CLI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91840"/>
            <a:ext cx="1828800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F4F6"/>
                </a:solidFill>
                <a:latin typeface="Segoe UI"/>
              </a:defRPr>
            </a:pPr>
            <a:r>
              <a:t>Azure ARM SDK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17520" y="4069080"/>
            <a:ext cx="45720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A lightweight, local-first bridge that links LLM prompts to physical cloud operations.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Protocol-Compliant: </a:t>
            </a:r>
            <a:r>
              <a:rPr b="0">
                <a:solidFill>
                  <a:srgbClr val="9CA3AF"/>
                </a:solidFill>
              </a:rPr>
              <a:t>Uses JSON-RPC 2.0 over standard I/O (stdio) to interact with MCP Hosts.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Dynamic Discovery: </a:t>
            </a:r>
            <a:r>
              <a:rPr b="0">
                <a:solidFill>
                  <a:srgbClr val="9CA3AF"/>
                </a:solidFill>
              </a:rPr>
              <a:t>Exposes cloud management commands as executable tools dynamically based on user subscription context.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Zero Storage: </a:t>
            </a:r>
            <a:r>
              <a:rPr b="0">
                <a:solidFill>
                  <a:srgbClr val="9CA3AF"/>
                </a:solidFill>
              </a:rPr>
              <a:t>No cloud data is stored or forwarded through third-party intermediate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Key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206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🔍 Inspect &amp; Query</a:t>
            </a:r>
          </a:p>
          <a:p>
            <a:pPr>
              <a:spcAft>
                <a:spcPts val="25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Find, describe, and filter resources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200400"/>
            <a:ext cx="2871216" cy="2011680"/>
          </a:xfrm>
          <a:prstGeom prst="roundRect">
            <a:avLst/>
          </a:prstGeom>
          <a:solidFill>
            <a:srgbClr val="0A0B10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6883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List Web Apps &amp; VMs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Check network groups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Find unassigned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206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7830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⚡ Manage &amp; Provision</a:t>
            </a:r>
          </a:p>
          <a:p>
            <a:pPr>
              <a:spcAft>
                <a:spcPts val="25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Trigger configurations and change infrastructure properties.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3200400"/>
            <a:ext cx="2871216" cy="2011680"/>
          </a:xfrm>
          <a:prstGeom prst="roundRect">
            <a:avLst/>
          </a:prstGeom>
          <a:solidFill>
            <a:srgbClr val="0A0B10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3337560"/>
            <a:ext cx="26883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Scale App Service plans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Deploy ARM/Bicep files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Power cycle VM instances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554480"/>
            <a:ext cx="3328416" cy="4206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7830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855F7"/>
                </a:solidFill>
                <a:latin typeface="Segoe UI"/>
              </a:defRPr>
            </a:pPr>
            <a:r>
              <a:t>📋 Observe &amp; Log</a:t>
            </a:r>
          </a:p>
          <a:p>
            <a:pPr>
              <a:spcAft>
                <a:spcPts val="25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Extract operational metadata and diagnose issues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2" y="3200400"/>
            <a:ext cx="2871216" cy="2011680"/>
          </a:xfrm>
          <a:prstGeom prst="roundRect">
            <a:avLst/>
          </a:prstGeom>
          <a:solidFill>
            <a:srgbClr val="0A0B10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3337560"/>
            <a:ext cx="26883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Tail container logs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Fetch performance metrics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• Inspect activity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Security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Because the MCP server handles direct cloud access, security and access control are implemented directly at the design level: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Identity Inheritance: </a:t>
            </a:r>
            <a:r>
              <a:rPr b="0">
                <a:solidFill>
                  <a:srgbClr val="9CA3AF"/>
                </a:solidFill>
              </a:rPr>
              <a:t>Reuses active developer credentials from the host shell. If 'az account show' works, Azure MCP works.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Read-Only Mode: </a:t>
            </a:r>
            <a:r>
              <a:rPr b="0">
                <a:solidFill>
                  <a:srgbClr val="9CA3AF"/>
                </a:solidFill>
              </a:rPr>
              <a:t>A safety config flag blocks all API calls containing mutating properties (POST, PUT, DELETE, CLI run actions).</a:t>
            </a:r>
          </a:p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Audit Logging: </a:t>
            </a:r>
            <a:r>
              <a:rPr b="0">
                <a:solidFill>
                  <a:srgbClr val="9CA3AF"/>
                </a:solidFill>
              </a:rPr>
              <a:t>Every tool execution, CLI input, and API payload request is logged locally for auditing.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onsolas"/>
              </a:defRPr>
            </a:pPr>
            <a:r>
              <a:t>📄 mcp-config.json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8BDF8"/>
                </a:solidFill>
                <a:latin typeface="Consolas"/>
              </a:defRPr>
            </a:pPr>
            <a:r>
              <a:t>{</a:t>
            </a:r>
            <a:br/>
            <a:r>
              <a:t>  "azure_mcp_config": {</a:t>
            </a:r>
            <a:br/>
            <a:r>
              <a:t>    "read_only": true,</a:t>
            </a:r>
            <a:br/>
            <a:r>
              <a:t>    "allowed_subscriptions": [</a:t>
            </a:r>
            <a:br/>
            <a:r>
              <a:t>      "prod-sub-id-xxxx"</a:t>
            </a:r>
            <a:br/>
            <a:r>
              <a:t>    ],</a:t>
            </a:r>
            <a:br/>
            <a:r>
              <a:t>    "cli_fallback": true,</a:t>
            </a:r>
            <a:br/>
            <a:r>
              <a:t>    "log_level": "verbose"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Example Interaction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0116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PROMPT</a:t>
            </a:r>
          </a:p>
          <a:p>
            <a:pPr>
              <a:defRPr sz="1300" i="1">
                <a:solidFill>
                  <a:srgbClr val="F3F4F6"/>
                </a:solidFill>
                <a:latin typeface="Segoe UI"/>
              </a:defRPr>
            </a:pPr>
            <a:r>
              <a:t>"Can you list all App Services in resource group 'production-rg' that are currently not running, and restart them?"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40"/>
            <a:ext cx="5029200" cy="20116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LLM REASONING FLOW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Segoe UI"/>
              </a:defRPr>
            </a:pPr>
            <a:r>
              <a:t>1. Call tool list_app_services { resourceGroup: 'production-rg' }</a:t>
            </a:r>
            <a:br/>
            <a:r>
              <a:t>2. Filter returned services for state 'Stopped'.</a:t>
            </a:r>
            <a:br/>
            <a:r>
              <a:t>3. Call tool restart_app_service for stopped instances.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onsolas"/>
              </a:defRPr>
            </a:pPr>
            <a:r>
              <a:t>💻 Server stdout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CA3AF"/>
                </a:solidFill>
                <a:latin typeface="Consolas"/>
              </a:defRPr>
            </a:pPr>
            <a:r>
              <a:t>// Calling API: GET /subscriptions/.../sites</a:t>
            </a:r>
            <a:br/>
            <a:r>
              <a:t>[MCP Info] Invoking: list_app_services</a:t>
            </a:r>
            <a:br/>
            <a:r>
              <a:t>           {"resourceGroup":"production-rg"}</a:t>
            </a:r>
            <a:br/>
            <a:r>
              <a:t>[MCP Info] Success: Found 3 App Services.</a:t>
            </a:r>
            <a:br/>
            <a:r>
              <a:t>           1 Stopped ("api-prod-west-01").</a:t>
            </a:r>
            <a:br/>
            <a:r>
              <a:t>[MCP Info] Invoking: restart_app_service</a:t>
            </a:r>
            <a:br/>
            <a:r>
              <a:t>           {"name":"api-prod-west-01"}</a:t>
            </a:r>
            <a:br/>
            <a:r>
              <a:t>// Executing: az webapp restart --name api-prod-...</a:t>
            </a:r>
            <a:br/>
            <a:r>
              <a:t>[MCP Info] Success: restarted successfully.</a:t>
            </a:r>
            <a:br/>
            <a:br/>
            <a:r>
              <a:t>Output: "I found 1 stopped App Service: 'api-prod-west-01'. I have restarted it."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Segoe UI"/>
              </a:defRPr>
            </a:pPr>
            <a:r>
              <a:t>• Getting Started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Step 1: Install Package</a:t>
            </a:r>
            <a:br/>
            <a:r>
              <a:rPr b="0" sz="1200">
                <a:solidFill>
                  <a:srgbClr val="9CA3AF"/>
                </a:solidFill>
              </a:rPr>
              <a:t>Install the Azure MCP Server tool locally, preparing it for your chosen LLM editor host (Cursor, Claude Desktop, etc.).</a:t>
            </a:r>
          </a:p>
          <a:p>
            <a:pPr>
              <a:spcBef>
                <a:spcPts val="1800"/>
              </a:spcBef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Step 2: Add to Host Config</a:t>
            </a:r>
            <a:br/>
            <a:r>
              <a:rPr b="0" sz="1200">
                <a:solidFill>
                  <a:srgbClr val="9CA3AF"/>
                </a:solidFill>
              </a:rPr>
              <a:t>Open your MCP host settings configuration file (e.g. claude_desktop_config.json) and define the command.</a:t>
            </a:r>
          </a:p>
          <a:p>
            <a:pPr>
              <a:spcBef>
                <a:spcPts val="1800"/>
              </a:spcBef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Step 3: Authenticate &amp; Go</a:t>
            </a:r>
            <a:br/>
            <a:r>
              <a:rPr b="0" sz="1200">
                <a:solidFill>
                  <a:srgbClr val="9CA3AF"/>
                </a:solidFill>
              </a:rPr>
              <a:t>Run 'az login' on your workstation command line to authenticate. Open your editor and chat with the AI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⚙️ Host Config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38BDF8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"azure": {</a:t>
            </a:r>
            <a:br/>
            <a:r>
              <a:t>      "command": "npx",</a:t>
            </a:r>
            <a:br/>
            <a:r>
              <a:t>      "args": [</a:t>
            </a:r>
            <a:br/>
            <a:r>
              <a:t>        "-y",</a:t>
            </a:r>
            <a:br/>
            <a:r>
              <a:t>        "azure-mcp-server"</a:t>
            </a:r>
            <a:br/>
            <a:r>
              <a:t>      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Azure MCP Presentation  |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